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02D"/>
                </a:solidFill>
                <a:latin typeface="Aptos Display"/>
              </a:defRPr>
            </a:pPr>
            <a:r>
              <a:t>Predict My Glucose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574"/>
                </a:solidFill>
                <a:latin typeface="Aptos"/>
              </a:defRPr>
            </a:pPr>
            <a:r>
              <a:t>From personalized prediction to evidence-grounded explanation on AWS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54864"/>
          <a:lstStyle/>
          <a:p>
            <a:pPr algn="ctr">
              <a:defRPr sz="1400" b="1">
                <a:solidFill>
                  <a:srgbClr val="18202D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45720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4251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300">
                <a:solidFill>
                  <a:srgbClr val="16A34A"/>
                </a:solidFill>
              </a:defRPr>
            </a:pPr>
            <a:r>
              <a:t>PMRF = the science</a:t>
            </a:r>
          </a:p>
          <a:p>
            <a:pPr>
              <a:spcAft>
                <a:spcPts val="700"/>
              </a:spcAft>
              <a:defRPr sz="1100">
                <a:solidFill>
                  <a:srgbClr val="5A6574"/>
                </a:solidFill>
              </a:defRPr>
            </a:pPr>
            <a:r>
              <a:t>Personalized glucose prediction remains grounded in the trained multimodal model.</a:t>
            </a:r>
          </a:p>
          <a:p>
            <a:pPr>
              <a:spcBef>
                <a:spcPts val="800"/>
              </a:spcBef>
              <a:defRPr b="1" sz="1300">
                <a:solidFill>
                  <a:srgbClr val="2563EB"/>
                </a:solidFill>
              </a:defRPr>
            </a:pPr>
            <a:r>
              <a:t>AWS = the product layer</a:t>
            </a:r>
          </a:p>
          <a:p>
            <a:pPr>
              <a:spcAft>
                <a:spcPts val="700"/>
              </a:spcAft>
              <a:defRPr sz="1100">
                <a:solidFill>
                  <a:srgbClr val="5A6574"/>
                </a:solidFill>
              </a:defRPr>
            </a:pPr>
            <a:r>
              <a:t>Deploy the model, explain its output, retrieve evidence, and apply safety controls.</a:t>
            </a:r>
          </a:p>
          <a:p>
            <a:pPr>
              <a:spcBef>
                <a:spcPts val="800"/>
              </a:spcBef>
              <a:defRPr b="1" sz="1300">
                <a:solidFill>
                  <a:srgbClr val="7C3AED"/>
                </a:solidFill>
              </a:defRPr>
            </a:pPr>
            <a:r>
              <a:t>Goal for the mentor</a:t>
            </a:r>
          </a:p>
          <a:p>
            <a:pPr>
              <a:spcAft>
                <a:spcPts val="700"/>
              </a:spcAft>
              <a:defRPr sz="1100">
                <a:solidFill>
                  <a:srgbClr val="5A6574"/>
                </a:solidFill>
              </a:defRPr>
            </a:pPr>
            <a:r>
              <a:t>Validate the simplest architecture that preserves scientific credibility and improves explainability.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17320"/>
            <a:ext cx="475488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150" b="1">
                <a:solidFill>
                  <a:srgbClr val="18202D"/>
                </a:solidFill>
                <a:latin typeface="Aptos"/>
              </a:defRPr>
            </a:pPr>
            <a:r>
              <a:t>Meal photo + 7-day history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69680" y="2084832"/>
            <a:ext cx="0" cy="402336"/>
          </a:xfrm>
          <a:prstGeom prst="line">
            <a:avLst/>
          </a:prstGeom>
          <a:ln w="19050">
            <a:solidFill>
              <a:srgbClr val="AAA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92240" y="2514600"/>
            <a:ext cx="4754880" cy="65836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150" b="1">
                <a:solidFill>
                  <a:srgbClr val="18202D"/>
                </a:solidFill>
                <a:latin typeface="Aptos"/>
              </a:defRPr>
            </a:pPr>
            <a:r>
              <a:t>PMRF personalized prediction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69680" y="3182112"/>
            <a:ext cx="0" cy="402336"/>
          </a:xfrm>
          <a:prstGeom prst="line">
            <a:avLst/>
          </a:prstGeom>
          <a:ln w="19050">
            <a:solidFill>
              <a:srgbClr val="AAA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92240" y="3611880"/>
            <a:ext cx="4754880" cy="65836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150" b="1">
                <a:solidFill>
                  <a:srgbClr val="18202D"/>
                </a:solidFill>
                <a:latin typeface="Aptos"/>
              </a:defRPr>
            </a:pPr>
            <a:r>
              <a:t>Bedrock explanation + medical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69680" y="4279392"/>
            <a:ext cx="0" cy="402336"/>
          </a:xfrm>
          <a:prstGeom prst="line">
            <a:avLst/>
          </a:prstGeom>
          <a:ln w="19050">
            <a:solidFill>
              <a:srgbClr val="AAA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92240" y="4709160"/>
            <a:ext cx="4754880" cy="65836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150" b="1">
                <a:solidFill>
                  <a:srgbClr val="18202D"/>
                </a:solidFill>
                <a:latin typeface="Aptos"/>
              </a:defRPr>
            </a:pPr>
            <a:r>
              <a:t>Guardrails + grounded user report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577840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080" b="1">
                <a:solidFill>
                  <a:srgbClr val="18202D"/>
                </a:solidFill>
                <a:latin typeface="Aptos"/>
              </a:defRPr>
            </a:pPr>
            <a:r>
              <a:t>Design principle</a:t>
            </a:r>
          </a:p>
          <a:p>
            <a:pPr>
              <a:spcBef>
                <a:spcPts val="400"/>
              </a:spcBef>
              <a:defRPr sz="960">
                <a:solidFill>
                  <a:srgbClr val="5A6574"/>
                </a:solidFill>
                <a:latin typeface="Aptos"/>
              </a:defRPr>
            </a:pPr>
            <a:r>
              <a:t>Predictive numbers stay in PMRF; Bedrock explains and grounds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5577840"/>
            <a:ext cx="4572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69BA5"/>
                </a:solidFill>
                <a:latin typeface="Aptos"/>
              </a:defRPr>
            </a:pPr>
            <a:r>
              <a:t>Predict My Glucose · Mentor Discussion                                      Rutgers Health Hack 2026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02D"/>
                </a:solidFill>
                <a:latin typeface="Aptos Display"/>
              </a:defRPr>
            </a:pPr>
            <a:r>
              <a:t>What we already have — and what AWS should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574"/>
                </a:solidFill>
                <a:latin typeface="Aptos"/>
              </a:defRPr>
            </a:pPr>
            <a:r>
              <a:t>Evidence first: the core model already works; AWS should improve deployment, safety, and explanation.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54864"/>
          <a:lstStyle/>
          <a:p>
            <a:pPr algn="ctr">
              <a:defRPr sz="1300" b="1">
                <a:solidFill>
                  <a:srgbClr val="18202D"/>
                </a:solidFill>
                <a:latin typeface="Aptos"/>
              </a:defRPr>
            </a:pPr>
            <a:r>
              <a:t>Current PMRF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45720" cy="4526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00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18202D"/>
                </a:solidFill>
                <a:latin typeface="Aptos"/>
              </a:defRPr>
            </a:pPr>
            <a:r>
              <a:t>• Meal photo + recent CGM + heart rate + 7-day history</a:t>
            </a:r>
          </a:p>
          <a:p>
            <a:pPr>
              <a:spcAft>
                <a:spcPts val="400"/>
              </a:spcAft>
              <a:defRPr sz="1019">
                <a:solidFill>
                  <a:srgbClr val="18202D"/>
                </a:solidFill>
                <a:latin typeface="Aptos"/>
              </a:defRPr>
            </a:pPr>
            <a:r>
              <a:t>• Personalized LightGBM + in-context transformer + ensemble</a:t>
            </a:r>
          </a:p>
          <a:p>
            <a:pPr>
              <a:spcAft>
                <a:spcPts val="400"/>
              </a:spcAft>
              <a:defRPr sz="1019">
                <a:solidFill>
                  <a:srgbClr val="18202D"/>
                </a:solidFill>
                <a:latin typeface="Aptos"/>
              </a:defRPr>
            </a:pPr>
            <a:r>
              <a:t>• SHAP / similar-meal explanations + 80% prediction interval</a:t>
            </a:r>
          </a:p>
          <a:p>
            <a:pPr>
              <a:spcAft>
                <a:spcPts val="400"/>
              </a:spcAft>
              <a:defRPr sz="1019">
                <a:solidFill>
                  <a:srgbClr val="18202D"/>
                </a:solidFill>
                <a:latin typeface="Aptos"/>
              </a:defRPr>
            </a:pPr>
            <a:r>
              <a:t>• No per-user retraining: personalization comes from profile, retrieval, and in-context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43400"/>
            <a:ext cx="475488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54864"/>
          <a:lstStyle/>
          <a:p>
            <a:pPr algn="ctr">
              <a:defRPr sz="1080" b="1">
                <a:solidFill>
                  <a:srgbClr val="18202D"/>
                </a:solidFill>
                <a:latin typeface="Aptos"/>
              </a:defRPr>
            </a:pPr>
            <a:r>
              <a:t>Evidence of predictive value</a:t>
            </a:r>
          </a:p>
          <a:p>
            <a:pPr>
              <a:spcBef>
                <a:spcPts val="400"/>
              </a:spcBef>
              <a:defRPr sz="960">
                <a:solidFill>
                  <a:srgbClr val="5A6574"/>
                </a:solidFill>
                <a:latin typeface="Aptos"/>
              </a:defRPr>
            </a:pPr>
            <a:r>
              <a:t>60-min glucose MAE: 20.2 mg/dL vs 27.5 population mean. Peak-rise MAE: 19.8 vs 28.2 mg/dL.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54864"/>
          <a:lstStyle/>
          <a:p>
            <a:pPr algn="ctr">
              <a:defRPr sz="1300" b="1">
                <a:solidFill>
                  <a:srgbClr val="18202D"/>
                </a:solidFill>
                <a:latin typeface="Aptos"/>
              </a:defRPr>
            </a:pPr>
            <a:r>
              <a:t>What we want AWS to add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45720" cy="4526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800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18202D"/>
                </a:solidFill>
                <a:latin typeface="Aptos"/>
              </a:defRPr>
            </a:pPr>
            <a:r>
              <a:t>• Model/API deployment and secure storage</a:t>
            </a:r>
          </a:p>
          <a:p>
            <a:pPr>
              <a:spcAft>
                <a:spcPts val="400"/>
              </a:spcAft>
              <a:defRPr sz="1019">
                <a:solidFill>
                  <a:srgbClr val="18202D"/>
                </a:solidFill>
                <a:latin typeface="Aptos"/>
              </a:defRPr>
            </a:pPr>
            <a:r>
              <a:t>• Bedrock explanation from structured PMRF/XAI outputs</a:t>
            </a:r>
          </a:p>
          <a:p>
            <a:pPr>
              <a:spcAft>
                <a:spcPts val="400"/>
              </a:spcAft>
              <a:defRPr sz="1019">
                <a:solidFill>
                  <a:srgbClr val="18202D"/>
                </a:solidFill>
                <a:latin typeface="Aptos"/>
              </a:defRPr>
            </a:pPr>
            <a:r>
              <a:t>• Curated medical RAG with citations and evidence support</a:t>
            </a:r>
          </a:p>
          <a:p>
            <a:pPr>
              <a:spcAft>
                <a:spcPts val="400"/>
              </a:spcAft>
              <a:defRPr sz="1019">
                <a:solidFill>
                  <a:srgbClr val="18202D"/>
                </a:solidFill>
                <a:latin typeface="Aptos"/>
              </a:defRPr>
            </a:pPr>
            <a:r>
              <a:t>• Guardrails from day one — not as a late add-on</a:t>
            </a:r>
          </a:p>
          <a:p>
            <a:pPr>
              <a:spcAft>
                <a:spcPts val="400"/>
              </a:spcAft>
              <a:defRPr sz="1019">
                <a:solidFill>
                  <a:srgbClr val="18202D"/>
                </a:solidFill>
                <a:latin typeface="Aptos"/>
              </a:defRPr>
            </a:pPr>
            <a:r>
              <a:t>• Optional meal GI/GL as explanation-only context for the hackathon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343400"/>
            <a:ext cx="475488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54864"/>
          <a:lstStyle/>
          <a:p>
            <a:pPr algn="ctr">
              <a:defRPr sz="1080" b="1">
                <a:solidFill>
                  <a:srgbClr val="18202D"/>
                </a:solidFill>
                <a:latin typeface="Aptos"/>
              </a:defRPr>
            </a:pPr>
            <a:r>
              <a:t>Privacy posture</a:t>
            </a:r>
          </a:p>
          <a:p>
            <a:pPr>
              <a:spcBef>
                <a:spcPts val="400"/>
              </a:spcBef>
              <a:defRPr sz="960">
                <a:solidFill>
                  <a:srgbClr val="5A6574"/>
                </a:solidFill>
                <a:latin typeface="Aptos"/>
              </a:defRPr>
            </a:pPr>
            <a:r>
              <a:t>Synthetic / de-identified data only; encrypted storage; minimize raw health data sent to the LLM.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870448"/>
            <a:ext cx="1092708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030" b="1">
                <a:solidFill>
                  <a:srgbClr val="FFFFFF"/>
                </a:solidFill>
                <a:latin typeface="Aptos"/>
              </a:defRPr>
            </a:pPr>
            <a:r>
              <a:t>Mentor focus: where does AWS materially improve deployment + grounded explanation without overengineering?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69BA5"/>
                </a:solidFill>
                <a:latin typeface="Aptos"/>
              </a:defRPr>
            </a:pPr>
            <a:r>
              <a:t>Predict My Glucose · Mentor Discussion                                      Rutgers Health Hack 2026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02D"/>
                </a:solidFill>
                <a:latin typeface="Aptos Display"/>
              </a:defRPr>
            </a:pPr>
            <a:r>
              <a:t>Proposed AWS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574"/>
                </a:solidFill>
                <a:latin typeface="Aptos"/>
              </a:defRPr>
            </a:pPr>
            <a:r>
              <a:t>Clear data flow: storage and knowledge sources feed the backend / explanation layer; PMRF remains the prediction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508760" cy="640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60" b="1">
                <a:solidFill>
                  <a:srgbClr val="18202D"/>
                </a:solidFill>
                <a:latin typeface="Aptos"/>
              </a:defRPr>
            </a:pPr>
            <a:r>
              <a:t>User / Web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32588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60" b="1">
                <a:solidFill>
                  <a:srgbClr val="18202D"/>
                </a:solidFill>
                <a:latin typeface="Aptos"/>
              </a:defRPr>
            </a:pPr>
            <a:r>
              <a:t>API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2588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60" b="1">
                <a:solidFill>
                  <a:srgbClr val="18202D"/>
                </a:solidFill>
                <a:latin typeface="Aptos"/>
              </a:defRPr>
            </a:pPr>
            <a:r>
              <a:t>Backend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25880"/>
            <a:ext cx="1508760" cy="6400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60" b="1">
                <a:solidFill>
                  <a:srgbClr val="18202D"/>
                </a:solidFill>
                <a:latin typeface="Aptos"/>
              </a:defRPr>
            </a:pPr>
            <a:r>
              <a:t>PMRF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325880"/>
            <a:ext cx="1508760" cy="6400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60" b="1">
                <a:solidFill>
                  <a:srgbClr val="18202D"/>
                </a:solidFill>
                <a:latin typeface="Aptos"/>
              </a:defRPr>
            </a:pPr>
            <a:r>
              <a:t>Amazon Bedrock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325880"/>
            <a:ext cx="1508760" cy="64008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60" b="1">
                <a:solidFill>
                  <a:srgbClr val="18202D"/>
                </a:solidFill>
                <a:latin typeface="Aptos"/>
              </a:defRPr>
            </a:pPr>
            <a:r>
              <a:t>Guardrails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1645920"/>
            <a:ext cx="320040" cy="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31920" y="1645920"/>
            <a:ext cx="320040" cy="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60720" y="1645920"/>
            <a:ext cx="320040" cy="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89520" y="1645920"/>
            <a:ext cx="411480" cy="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1645920"/>
            <a:ext cx="548640" cy="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22860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202D"/>
                </a:solidFill>
              </a:defRPr>
            </a:pPr>
            <a:r>
              <a:t>Supporting data &amp; model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43200"/>
            <a:ext cx="2103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050" b="1">
                <a:solidFill>
                  <a:srgbClr val="18202D"/>
                </a:solidFill>
                <a:latin typeface="Aptos"/>
              </a:defRPr>
            </a:pPr>
            <a:r>
              <a:t>Amazon S3</a:t>
            </a:r>
          </a:p>
          <a:p>
            <a:pPr>
              <a:spcBef>
                <a:spcPts val="400"/>
              </a:spcBef>
              <a:defRPr sz="930">
                <a:solidFill>
                  <a:srgbClr val="5A6574"/>
                </a:solidFill>
                <a:latin typeface="Aptos"/>
              </a:defRPr>
            </a:pPr>
            <a:r>
              <a:t>meal photos · CGM ·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2743200"/>
            <a:ext cx="2194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050" b="1">
                <a:solidFill>
                  <a:srgbClr val="18202D"/>
                </a:solidFill>
                <a:latin typeface="Aptos"/>
              </a:defRPr>
            </a:pPr>
            <a:r>
              <a:t>ECR + ECS/Fargate</a:t>
            </a:r>
          </a:p>
          <a:p>
            <a:pPr>
              <a:spcBef>
                <a:spcPts val="400"/>
              </a:spcBef>
              <a:defRPr sz="930">
                <a:solidFill>
                  <a:srgbClr val="5A6574"/>
                </a:solidFill>
                <a:latin typeface="Aptos"/>
              </a:defRPr>
            </a:pPr>
            <a:r>
              <a:t>or SageMaker endpoint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2743200"/>
            <a:ext cx="20574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050" b="1">
                <a:solidFill>
                  <a:srgbClr val="18202D"/>
                </a:solidFill>
                <a:latin typeface="Aptos"/>
              </a:defRPr>
            </a:pPr>
            <a:r>
              <a:t>SHAP + similar meals</a:t>
            </a:r>
          </a:p>
          <a:p>
            <a:pPr>
              <a:spcBef>
                <a:spcPts val="400"/>
              </a:spcBef>
              <a:defRPr sz="930">
                <a:solidFill>
                  <a:srgbClr val="5A6574"/>
                </a:solidFill>
                <a:latin typeface="Aptos"/>
              </a:defRPr>
            </a:pPr>
            <a:r>
              <a:t>structured explanation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743200"/>
            <a:ext cx="2103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030" b="1">
                <a:solidFill>
                  <a:srgbClr val="18202D"/>
                </a:solidFill>
                <a:latin typeface="Aptos"/>
              </a:defRPr>
            </a:pPr>
            <a:r>
              <a:t>Bedrock Knowledge Base</a:t>
            </a:r>
          </a:p>
          <a:p>
            <a:pPr>
              <a:spcBef>
                <a:spcPts val="400"/>
              </a:spcBef>
              <a:defRPr sz="910">
                <a:solidFill>
                  <a:srgbClr val="5A6574"/>
                </a:solidFill>
                <a:latin typeface="Aptos"/>
              </a:defRPr>
            </a:pPr>
            <a:r>
              <a:t>curated medical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2743200"/>
            <a:ext cx="1325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000" b="1">
                <a:solidFill>
                  <a:srgbClr val="18202D"/>
                </a:solidFill>
                <a:latin typeface="Aptos"/>
              </a:defRPr>
            </a:pPr>
            <a:r>
              <a:t>User report</a:t>
            </a:r>
          </a:p>
          <a:p>
            <a:pPr>
              <a:spcBef>
                <a:spcPts val="400"/>
              </a:spcBef>
              <a:defRPr sz="880">
                <a:solidFill>
                  <a:srgbClr val="5A6574"/>
                </a:solidFill>
                <a:latin typeface="Aptos"/>
              </a:defRPr>
            </a:pPr>
            <a:r>
              <a:t>citations + safety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783080" y="1965960"/>
            <a:ext cx="3218688" cy="777240"/>
          </a:xfrm>
          <a:prstGeom prst="line">
            <a:avLst/>
          </a:prstGeom>
          <a:ln w="15240">
            <a:solidFill>
              <a:srgbClr val="AFB4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160520" y="1965960"/>
            <a:ext cx="2651760" cy="777240"/>
          </a:xfrm>
          <a:prstGeom prst="line">
            <a:avLst/>
          </a:prstGeom>
          <a:ln w="15240">
            <a:solidFill>
              <a:srgbClr val="AFB4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492240" y="1965960"/>
            <a:ext cx="2267712" cy="777240"/>
          </a:xfrm>
          <a:prstGeom prst="line">
            <a:avLst/>
          </a:prstGeom>
          <a:ln w="15240">
            <a:solidFill>
              <a:srgbClr val="AFB4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8759952" y="1965960"/>
            <a:ext cx="64008" cy="777240"/>
          </a:xfrm>
          <a:prstGeom prst="line">
            <a:avLst/>
          </a:prstGeom>
          <a:ln w="15240">
            <a:solidFill>
              <a:srgbClr val="AFB4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762488" y="1965960"/>
            <a:ext cx="45720" cy="777240"/>
          </a:xfrm>
          <a:prstGeom prst="line">
            <a:avLst/>
          </a:prstGeom>
          <a:ln w="15240">
            <a:solidFill>
              <a:srgbClr val="AFB4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1520" y="3977639"/>
            <a:ext cx="10698480" cy="56692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030" b="1">
                <a:solidFill>
                  <a:srgbClr val="18202D"/>
                </a:solidFill>
                <a:latin typeface="Aptos"/>
              </a:defRPr>
            </a:pPr>
            <a:r>
              <a:t>Design principle</a:t>
            </a:r>
          </a:p>
          <a:p>
            <a:pPr>
              <a:spcBef>
                <a:spcPts val="400"/>
              </a:spcBef>
              <a:defRPr sz="910">
                <a:solidFill>
                  <a:srgbClr val="5A6574"/>
                </a:solidFill>
                <a:latin typeface="Aptos"/>
              </a:defRPr>
            </a:pPr>
            <a:r>
              <a:t>Numerical glucose predictions remain grounded in PMRF. Bedrock receives structured outputs / derived features plus retrieved evidence — not the raw longitudinal record when avoidable.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00600"/>
            <a:ext cx="516636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050" b="1">
                <a:solidFill>
                  <a:srgbClr val="18202D"/>
                </a:solidFill>
                <a:latin typeface="Aptos"/>
              </a:defRPr>
            </a:pPr>
            <a:r>
              <a:t>Personalization execution</a:t>
            </a:r>
          </a:p>
          <a:p>
            <a:pPr>
              <a:spcBef>
                <a:spcPts val="400"/>
              </a:spcBef>
              <a:defRPr sz="930">
                <a:solidFill>
                  <a:srgbClr val="5A6574"/>
                </a:solidFill>
                <a:latin typeface="Aptos"/>
              </a:defRPr>
            </a:pPr>
            <a:r>
              <a:t>No per-user LightGBM training job. /history builds profile + retrieval context; prediction is inference-time personalization.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800600"/>
            <a:ext cx="52578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050" b="1">
                <a:solidFill>
                  <a:srgbClr val="18202D"/>
                </a:solidFill>
                <a:latin typeface="Aptos"/>
              </a:defRPr>
            </a:pPr>
            <a:r>
              <a:t>Deployment constraint</a:t>
            </a:r>
          </a:p>
          <a:p>
            <a:pPr>
              <a:spcBef>
                <a:spcPts val="400"/>
              </a:spcBef>
              <a:defRPr sz="930">
                <a:solidFill>
                  <a:srgbClr val="5A6574"/>
                </a:solidFill>
                <a:latin typeface="Aptos"/>
              </a:defRPr>
            </a:pPr>
            <a:r>
              <a:t>Current prototype runs on CPU; target is sub-second PMRF inference before the LLM explanation step.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69BA5"/>
                </a:solidFill>
                <a:latin typeface="Aptos"/>
              </a:defRPr>
            </a:pPr>
            <a:r>
              <a:t>Predict My Glucose · Mentor Discussion                                      Rutgers Health Hack 2026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02D"/>
                </a:solidFill>
                <a:latin typeface="Aptos Display"/>
              </a:defRPr>
            </a:pPr>
            <a:r>
              <a:t>Explainability becomes a core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574"/>
                </a:solidFill>
                <a:latin typeface="Aptos"/>
              </a:defRPr>
            </a:pPr>
            <a:r>
              <a:t>Separate predictive uncertainty from evidence support, and keep GI/GL explanation-only for the MVP.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23444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00" b="1">
                <a:solidFill>
                  <a:srgbClr val="18202D"/>
                </a:solidFill>
                <a:latin typeface="Aptos"/>
              </a:defRPr>
            </a:pPr>
            <a:r>
              <a:t>Meal image</a:t>
            </a:r>
            <a:br/>
            <a:r>
              <a:t>+ portion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19" y="1714500"/>
            <a:ext cx="274321" cy="0"/>
          </a:xfrm>
          <a:prstGeom prst="line">
            <a:avLst/>
          </a:prstGeom>
          <a:ln w="1524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48840" y="1325880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00" b="1">
                <a:solidFill>
                  <a:srgbClr val="18202D"/>
                </a:solidFill>
                <a:latin typeface="Aptos"/>
              </a:defRPr>
            </a:pPr>
            <a:r>
              <a:t>Nutrition</a:t>
            </a:r>
            <a:br/>
            <a:r>
              <a:t>estimate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1714500"/>
            <a:ext cx="274320" cy="0"/>
          </a:xfrm>
          <a:prstGeom prst="line">
            <a:avLst/>
          </a:prstGeom>
          <a:ln w="1524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1325880"/>
            <a:ext cx="123444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00" b="1">
                <a:solidFill>
                  <a:srgbClr val="18202D"/>
                </a:solidFill>
                <a:latin typeface="Aptos"/>
              </a:defRPr>
            </a:pPr>
            <a:r>
              <a:t>PMRF</a:t>
            </a:r>
            <a:br/>
            <a:r>
              <a:t>prediction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92040" y="1714500"/>
            <a:ext cx="274320" cy="0"/>
          </a:xfrm>
          <a:prstGeom prst="line">
            <a:avLst/>
          </a:prstGeom>
          <a:ln w="1524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66360" y="1325880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00" b="1">
                <a:solidFill>
                  <a:srgbClr val="18202D"/>
                </a:solidFill>
                <a:latin typeface="Aptos"/>
              </a:defRPr>
            </a:pPr>
            <a:r>
              <a:t>SHAP +</a:t>
            </a:r>
            <a:br/>
            <a:r>
              <a:t>similar meals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0" y="1714500"/>
            <a:ext cx="274320" cy="0"/>
          </a:xfrm>
          <a:prstGeom prst="line">
            <a:avLst/>
          </a:prstGeom>
          <a:ln w="1524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675120" y="1325880"/>
            <a:ext cx="1234440" cy="7772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00" b="1">
                <a:solidFill>
                  <a:srgbClr val="18202D"/>
                </a:solidFill>
                <a:latin typeface="Aptos"/>
              </a:defRPr>
            </a:pPr>
            <a:r>
              <a:t>Medical RAG</a:t>
            </a:r>
            <a:br/>
            <a:r>
              <a:t>+ citations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9560" y="1714500"/>
            <a:ext cx="274319" cy="0"/>
          </a:xfrm>
          <a:prstGeom prst="line">
            <a:avLst/>
          </a:prstGeom>
          <a:ln w="1524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83879" y="1325880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00" b="1">
                <a:solidFill>
                  <a:srgbClr val="18202D"/>
                </a:solidFill>
                <a:latin typeface="Aptos"/>
              </a:defRPr>
            </a:pPr>
            <a:r>
              <a:t>Grounding /</a:t>
            </a:r>
            <a:br/>
            <a:r>
              <a:t>evidence support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18319" y="1714500"/>
            <a:ext cx="274321" cy="0"/>
          </a:xfrm>
          <a:prstGeom prst="line">
            <a:avLst/>
          </a:prstGeom>
          <a:ln w="1524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92640" y="1325880"/>
            <a:ext cx="914400" cy="77724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00" b="1">
                <a:solidFill>
                  <a:srgbClr val="18202D"/>
                </a:solidFill>
                <a:latin typeface="Aptos"/>
              </a:defRPr>
            </a:pPr>
            <a:r>
              <a:t>Guardrails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607040" y="1714500"/>
            <a:ext cx="228600" cy="0"/>
          </a:xfrm>
          <a:prstGeom prst="line">
            <a:avLst/>
          </a:prstGeom>
          <a:ln w="1524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835640" y="1325880"/>
            <a:ext cx="777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00" b="1">
                <a:solidFill>
                  <a:srgbClr val="18202D"/>
                </a:solidFill>
                <a:latin typeface="Aptos"/>
              </a:defRPr>
            </a:pPr>
            <a:r>
              <a:t>User 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514600"/>
            <a:ext cx="2606040" cy="7498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010" b="1">
                <a:solidFill>
                  <a:srgbClr val="18202D"/>
                </a:solidFill>
                <a:latin typeface="Aptos"/>
              </a:defRPr>
            </a:pPr>
            <a:r>
              <a:t>Optional GI / GL context</a:t>
            </a:r>
          </a:p>
          <a:p>
            <a:pPr>
              <a:spcBef>
                <a:spcPts val="400"/>
              </a:spcBef>
              <a:defRPr sz="890">
                <a:solidFill>
                  <a:srgbClr val="5A6574"/>
                </a:solidFill>
                <a:latin typeface="Aptos"/>
              </a:defRPr>
            </a:pPr>
            <a:r>
              <a:t>food ID + portion → GI database → meal GI/GL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965960" y="2084831"/>
            <a:ext cx="731520" cy="429769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11880" y="2514600"/>
            <a:ext cx="3794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000" b="1">
                <a:solidFill>
                  <a:srgbClr val="18202D"/>
                </a:solidFill>
                <a:latin typeface="Aptos"/>
              </a:defRPr>
            </a:pPr>
            <a:r>
              <a:t>MVP scope rule</a:t>
            </a:r>
          </a:p>
          <a:p>
            <a:pPr>
              <a:spcBef>
                <a:spcPts val="400"/>
              </a:spcBef>
              <a:defRPr sz="880">
                <a:solidFill>
                  <a:srgbClr val="5A6574"/>
                </a:solidFill>
                <a:latin typeface="Aptos"/>
              </a:defRPr>
            </a:pPr>
            <a:r>
              <a:t>GI/GL helps explain the meal; it does NOT feed PMRF unless we retrain and revalidate later.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5760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54864"/>
          <a:lstStyle/>
          <a:p>
            <a:pPr algn="ctr">
              <a:defRPr sz="1100" b="1">
                <a:solidFill>
                  <a:srgbClr val="18202D"/>
                </a:solidFill>
                <a:latin typeface="Aptos"/>
              </a:defRPr>
            </a:pPr>
            <a:r>
              <a:t>1 · What is predicted?</a:t>
            </a:r>
          </a:p>
          <a:p>
            <a:pPr>
              <a:spcBef>
                <a:spcPts val="400"/>
              </a:spcBef>
              <a:defRPr sz="980">
                <a:solidFill>
                  <a:srgbClr val="5A6574"/>
                </a:solidFill>
                <a:latin typeface="Aptos"/>
              </a:defRPr>
            </a:pPr>
            <a:r>
              <a:t>Trajectory · peak · time-to-peak · iAUC · 80% prediction interval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657600"/>
            <a:ext cx="45720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43400" y="365760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54864"/>
          <a:lstStyle/>
          <a:p>
            <a:pPr algn="ctr">
              <a:defRPr sz="1100" b="1">
                <a:solidFill>
                  <a:srgbClr val="18202D"/>
                </a:solidFill>
                <a:latin typeface="Aptos"/>
              </a:defRPr>
            </a:pPr>
            <a:r>
              <a:t>2 · Why is it predicted?</a:t>
            </a:r>
          </a:p>
          <a:p>
            <a:pPr>
              <a:spcBef>
                <a:spcPts val="400"/>
              </a:spcBef>
              <a:defRPr sz="980">
                <a:solidFill>
                  <a:srgbClr val="5A6574"/>
                </a:solidFill>
                <a:latin typeface="Aptos"/>
              </a:defRPr>
            </a:pPr>
            <a:r>
              <a:t>Meal composition · SHAP · similar meals · personal response history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657600"/>
            <a:ext cx="45720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01000" y="365760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54864"/>
          <a:lstStyle/>
          <a:p>
            <a:pPr algn="ctr">
              <a:defRPr sz="1100" b="1">
                <a:solidFill>
                  <a:srgbClr val="18202D"/>
                </a:solidFill>
                <a:latin typeface="Aptos"/>
              </a:defRPr>
            </a:pPr>
            <a:r>
              <a:t>3 · What may explain it?</a:t>
            </a:r>
          </a:p>
          <a:p>
            <a:pPr>
              <a:spcBef>
                <a:spcPts val="400"/>
              </a:spcBef>
              <a:defRPr sz="980">
                <a:solidFill>
                  <a:srgbClr val="5A6574"/>
                </a:solidFill>
                <a:latin typeface="Aptos"/>
              </a:defRPr>
            </a:pPr>
            <a:r>
              <a:t>Retrieved medical evidence + citations + grounding/evidence-support 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3657600"/>
            <a:ext cx="4572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394960"/>
            <a:ext cx="1083564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019" b="1">
                <a:solidFill>
                  <a:srgbClr val="FFFFFF"/>
                </a:solidFill>
                <a:latin typeface="Aptos"/>
              </a:defRPr>
            </a:pPr>
            <a:r>
              <a:t>Important distinction</a:t>
            </a:r>
          </a:p>
          <a:p>
            <a:pPr>
              <a:spcBef>
                <a:spcPts val="400"/>
              </a:spcBef>
              <a:defRPr sz="900">
                <a:solidFill>
                  <a:srgbClr val="5A6574"/>
                </a:solidFill>
                <a:latin typeface="Aptos"/>
              </a:defRPr>
            </a:pPr>
            <a:r>
              <a:t>PMRF uncertainty answers “how uncertain is the prediction?” Grounding/evidence support answers “how well is the explanation supported?”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69BA5"/>
                </a:solidFill>
                <a:latin typeface="Aptos"/>
              </a:defRPr>
            </a:pPr>
            <a:r>
              <a:t>Predict My Glucose · Mentor Discussion                                      Rutgers Health Hack 2026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02D"/>
                </a:solidFill>
                <a:latin typeface="Aptos Display"/>
              </a:defRPr>
            </a:pPr>
            <a:r>
              <a:t>What the user could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574"/>
                </a:solidFill>
                <a:latin typeface="Aptos"/>
              </a:defRPr>
            </a:pPr>
            <a:r>
              <a:t>Illustrative mock-up: show uncertainty on the curve and evidence support on the explanation — not a black-box confidence label.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864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54864"/>
          <a:lstStyle/>
          <a:p>
            <a:pPr algn="ctr">
              <a:defRPr sz="1250" b="1">
                <a:solidFill>
                  <a:srgbClr val="18202D"/>
                </a:solidFill>
                <a:latin typeface="Aptos"/>
              </a:defRPr>
            </a:pPr>
            <a:r>
              <a:t>Predicted post-meal glucose</a:t>
            </a:r>
          </a:p>
        </p:txBody>
      </p:sp>
      <p:pic>
        <p:nvPicPr>
          <p:cNvPr id="6" name="Picture 5" descr="pmrf_predic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28800"/>
            <a:ext cx="4800600" cy="28355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5349240"/>
            <a:ext cx="1234440" cy="4572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50" b="1">
                <a:solidFill>
                  <a:srgbClr val="18202D"/>
                </a:solidFill>
                <a:latin typeface="Aptos"/>
              </a:defRPr>
            </a:pPr>
            <a:r>
              <a:t>Peak 164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5349240"/>
            <a:ext cx="1234440" cy="457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50" b="1">
                <a:solidFill>
                  <a:srgbClr val="18202D"/>
                </a:solidFill>
                <a:latin typeface="Aptos"/>
              </a:defRPr>
            </a:pPr>
            <a:r>
              <a:t>Rise +47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5349240"/>
            <a:ext cx="123444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50" b="1">
                <a:solidFill>
                  <a:srgbClr val="18202D"/>
                </a:solidFill>
                <a:latin typeface="Aptos"/>
              </a:defRPr>
            </a:pPr>
            <a:r>
              <a:t>80% interval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52120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54864"/>
          <a:lstStyle/>
          <a:p>
            <a:pPr algn="ctr">
              <a:defRPr sz="1250" b="1">
                <a:solidFill>
                  <a:srgbClr val="18202D"/>
                </a:solidFill>
                <a:latin typeface="Aptos"/>
              </a:defRPr>
            </a:pPr>
            <a:r>
              <a:t>Why this response?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83080"/>
            <a:ext cx="4526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What drives it</a:t>
            </a:r>
          </a:p>
          <a:p>
            <a:pPr>
              <a:spcBef>
                <a:spcPts val="200"/>
              </a:spcBef>
              <a:defRPr sz="930">
                <a:solidFill>
                  <a:srgbClr val="5A6574"/>
                </a:solidFill>
              </a:defRPr>
            </a:pPr>
            <a:r>
              <a:t>Estimated moderate-high meal GL; carbohydrate amount is a major contributor.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97480"/>
            <a:ext cx="4526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6A34A"/>
                </a:solidFill>
              </a:defRPr>
            </a:pPr>
            <a:r>
              <a:t>Personal response</a:t>
            </a:r>
          </a:p>
          <a:p>
            <a:pPr>
              <a:spcBef>
                <a:spcPts val="200"/>
              </a:spcBef>
              <a:defRPr sz="930">
                <a:solidFill>
                  <a:srgbClr val="5A6574"/>
                </a:solidFill>
              </a:defRPr>
            </a:pPr>
            <a:r>
              <a:t>Your 7-day history suggests above-average carbohydrate sensitivity.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611880"/>
            <a:ext cx="4526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C3AED"/>
                </a:solidFill>
              </a:defRPr>
            </a:pPr>
            <a:r>
              <a:t>Physiological interpretation</a:t>
            </a:r>
          </a:p>
          <a:p>
            <a:pPr>
              <a:spcBef>
                <a:spcPts val="200"/>
              </a:spcBef>
              <a:defRPr sz="930">
                <a:solidFill>
                  <a:srgbClr val="5A6574"/>
                </a:solidFill>
              </a:defRPr>
            </a:pPr>
            <a:r>
              <a:t>The predicted prolonged elevation may be consistent with slower post-meal glucose recovery; research evidence is retrieved and cited.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526280"/>
            <a:ext cx="4526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Evidence support</a:t>
            </a:r>
          </a:p>
          <a:p>
            <a:pPr>
              <a:spcBef>
                <a:spcPts val="200"/>
              </a:spcBef>
              <a:defRPr sz="930">
                <a:solidFill>
                  <a:srgbClr val="5A6574"/>
                </a:solidFill>
              </a:defRPr>
            </a:pPr>
            <a:r>
              <a:t>0.76  ·  illustrative grounding score — not medical confidence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5394960"/>
            <a:ext cx="4526280" cy="512064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960" b="1">
                <a:solidFill>
                  <a:srgbClr val="18202D"/>
                </a:solidFill>
                <a:latin typeface="Aptos"/>
              </a:defRPr>
            </a:pPr>
            <a:r>
              <a:t>Safety note</a:t>
            </a:r>
          </a:p>
          <a:p>
            <a:pPr>
              <a:spcBef>
                <a:spcPts val="400"/>
              </a:spcBef>
              <a:defRPr sz="840">
                <a:solidFill>
                  <a:srgbClr val="5A6574"/>
                </a:solidFill>
                <a:latin typeface="Aptos"/>
              </a:defRPr>
            </a:pPr>
            <a:r>
              <a:t>Decision support only; not diagnosis or medication advice.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69BA5"/>
                </a:solidFill>
                <a:latin typeface="Aptos"/>
              </a:defRPr>
            </a:pPr>
            <a:r>
              <a:t>Predict My Glucose · Mentor Discussion                                      Rutgers Health Hack 2026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02D"/>
                </a:solidFill>
                <a:latin typeface="Aptos Display"/>
              </a:defRPr>
            </a:pPr>
            <a:r>
              <a:t>Hackathon MVP + questions for the mentor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574"/>
                </a:solidFill>
                <a:latin typeface="Aptos"/>
              </a:defRPr>
            </a:pPr>
            <a:r>
              <a:t>Keep a working end-to-end demo first; then add the highest-value explainability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46634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54864"/>
          <a:lstStyle/>
          <a:p>
            <a:pPr algn="ctr">
              <a:defRPr sz="1300" b="1">
                <a:solidFill>
                  <a:srgbClr val="18202D"/>
                </a:solidFill>
                <a:latin typeface="Aptos"/>
              </a:defRPr>
            </a:pPr>
            <a:r>
              <a:t>MVP build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45720" cy="5074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783080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4650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8202D"/>
                </a:solidFill>
              </a:defRPr>
            </a:pPr>
            <a:r>
              <a:t>PMRF API + S3</a:t>
            </a:r>
          </a:p>
          <a:p>
            <a:pPr>
              <a:defRPr sz="860">
                <a:solidFill>
                  <a:srgbClr val="5A6574"/>
                </a:solidFill>
              </a:defRPr>
            </a:pPr>
            <a:r>
              <a:t>Working predictor + secure data path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7860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4203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8202D"/>
                </a:solidFill>
              </a:defRPr>
            </a:pPr>
            <a:r>
              <a:t>Frontend upload + curve</a:t>
            </a:r>
          </a:p>
          <a:p>
            <a:pPr>
              <a:defRPr sz="860">
                <a:solidFill>
                  <a:srgbClr val="5A6574"/>
                </a:solidFill>
              </a:defRPr>
            </a:pPr>
            <a:r>
              <a:t>Show prediction + 80% interval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7413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375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8202D"/>
                </a:solidFill>
              </a:defRPr>
            </a:pPr>
            <a:r>
              <a:t>Bedrock explanation + Guardrails</a:t>
            </a:r>
          </a:p>
          <a:p>
            <a:pPr>
              <a:defRPr sz="860">
                <a:solidFill>
                  <a:srgbClr val="5A6574"/>
                </a:solidFill>
              </a:defRPr>
            </a:pPr>
            <a:r>
              <a:t>Convert XAI to user language safely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169663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33087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8202D"/>
                </a:solidFill>
              </a:defRPr>
            </a:pPr>
            <a:r>
              <a:t>Curated medical RAG</a:t>
            </a:r>
          </a:p>
          <a:p>
            <a:pPr>
              <a:defRPr sz="860">
                <a:solidFill>
                  <a:srgbClr val="5A6574"/>
                </a:solidFill>
              </a:defRPr>
            </a:pPr>
            <a:r>
              <a:t>Evidence + citations + grounding check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96519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2861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8202D"/>
                </a:solidFill>
              </a:defRPr>
            </a:pPr>
            <a:r>
              <a:t>GI/GL context — if time</a:t>
            </a:r>
          </a:p>
          <a:p>
            <a:pPr>
              <a:defRPr sz="860">
                <a:solidFill>
                  <a:srgbClr val="5A6574"/>
                </a:solidFill>
              </a:defRPr>
            </a:pPr>
            <a:r>
              <a:t>Explanation-only; cut before medical RAG if needed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1143000"/>
            <a:ext cx="6035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54864"/>
          <a:lstStyle/>
          <a:p>
            <a:pPr algn="ctr">
              <a:defRPr sz="1110" b="1">
                <a:solidFill>
                  <a:srgbClr val="18202D"/>
                </a:solidFill>
                <a:latin typeface="Aptos"/>
              </a:defRPr>
            </a:pPr>
            <a:r>
              <a:t>Question 1 · Deployment</a:t>
            </a:r>
          </a:p>
          <a:p>
            <a:pPr>
              <a:spcBef>
                <a:spcPts val="400"/>
              </a:spcBef>
              <a:defRPr sz="990">
                <a:solidFill>
                  <a:srgbClr val="5A6574"/>
                </a:solidFill>
                <a:latin typeface="Aptos"/>
              </a:defRPr>
            </a:pPr>
            <a:r>
              <a:t>Given CPU inference, no per-user retraining, and a sub-second PMRF target, would you choose ECS/Fargate, Lambda, or SageMaker for this hackathon?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1143000"/>
            <a:ext cx="45720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32120" y="2606040"/>
            <a:ext cx="6035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54864"/>
          <a:lstStyle/>
          <a:p>
            <a:pPr algn="ctr">
              <a:defRPr sz="1110" b="1">
                <a:solidFill>
                  <a:srgbClr val="18202D"/>
                </a:solidFill>
                <a:latin typeface="Aptos"/>
              </a:defRPr>
            </a:pPr>
            <a:r>
              <a:t>Question 2 · Grounded health explanation</a:t>
            </a:r>
          </a:p>
          <a:p>
            <a:pPr>
              <a:spcBef>
                <a:spcPts val="400"/>
              </a:spcBef>
              <a:defRPr sz="990">
                <a:solidFill>
                  <a:srgbClr val="5A6574"/>
                </a:solidFill>
                <a:latin typeface="Aptos"/>
              </a:defRPr>
            </a:pPr>
            <a:r>
              <a:t>What is the simplest Bedrock pattern for curated medical RAG + citations + grounding checks while minimizing sensitive data sent to the LLM?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2606040"/>
            <a:ext cx="45720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32120" y="4069080"/>
            <a:ext cx="6035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54864"/>
          <a:lstStyle/>
          <a:p>
            <a:pPr algn="ctr">
              <a:defRPr sz="1110" b="1">
                <a:solidFill>
                  <a:srgbClr val="18202D"/>
                </a:solidFill>
                <a:latin typeface="Aptos"/>
              </a:defRPr>
            </a:pPr>
            <a:r>
              <a:t>Question 3 · Scope</a:t>
            </a:r>
          </a:p>
          <a:p>
            <a:pPr>
              <a:spcBef>
                <a:spcPts val="400"/>
              </a:spcBef>
              <a:defRPr sz="990">
                <a:solidFill>
                  <a:srgbClr val="5A6574"/>
                </a:solidFill>
                <a:latin typeface="Aptos"/>
              </a:defRPr>
            </a:pPr>
            <a:r>
              <a:t>Is GI/GL useful as explanation-only context for the demo, or should we spend that time strengthening the medical evidence / explainability workflow?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4069080"/>
            <a:ext cx="45720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32120" y="5577840"/>
            <a:ext cx="603504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Decision rule</a:t>
            </a:r>
          </a:p>
          <a:p>
            <a:pPr>
              <a:spcBef>
                <a:spcPts val="400"/>
              </a:spcBef>
              <a:defRPr sz="880">
                <a:solidFill>
                  <a:srgbClr val="5A6574"/>
                </a:solidFill>
                <a:latin typeface="Aptos"/>
              </a:defRPr>
            </a:pPr>
            <a:r>
              <a:t>If time slips: keep PMRF → Bedrock + Guardrails → medical RAG; drop GI/GL first.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69BA5"/>
                </a:solidFill>
                <a:latin typeface="Aptos"/>
              </a:defRPr>
            </a:pPr>
            <a:r>
              <a:t>Predict My Glucose · Mentor Discussion                                      Rutgers Health Hack 2026  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